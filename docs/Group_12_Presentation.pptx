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5"/>
  </p:notesMasterIdLst>
  <p:handoutMasterIdLst>
    <p:handoutMasterId r:id="rId16"/>
  </p:handoutMasterIdLst>
  <p:sldIdLst>
    <p:sldId id="257" r:id="rId4"/>
    <p:sldId id="265" r:id="rId5"/>
    <p:sldId id="261" r:id="rId6"/>
    <p:sldId id="266" r:id="rId7"/>
    <p:sldId id="270" r:id="rId8"/>
    <p:sldId id="271" r:id="rId10"/>
    <p:sldId id="272" r:id="rId11"/>
    <p:sldId id="273" r:id="rId12"/>
    <p:sldId id="274" r:id="rId13"/>
    <p:sldId id="277" r:id="rId21"/>
    <p:sldId id="278" r:id="rId22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54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handoutMasters/_rels/handoutMaster1.xml.rels><?xml version="1.0" encoding="UTF-8"?>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12/12/2022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800" dirty="0"/>
              <a:t>Face Recognition with Partial Facial Visibility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000" b="1" dirty="0"/>
              <a:t>Masked Face Identification — A Pretrained-Model Benchmark</a:t>
            </a:r>
          </a:p>
          <a:p>
            <a:r>
              <a:rPr lang="en-US" sz="1800" b="0" dirty="0">
                <a:solidFill>
                  <a:srgbClr val="595959"/>
                </a:solidFill>
              </a:rPr>
              <a:t>Group 12 · HUST — Biometric Authentication Course</a:t>
            </a:r>
          </a:p>
          <a:p>
            <a:r>
              <a:rPr lang="en-US" sz="1800" b="0" dirty="0">
                <a:solidFill>
                  <a:srgbClr val="595959"/>
                </a:solidFill>
              </a:rPr>
              <a:t>FaceNet · ArcFace R100 · LVFace</a:t>
            </a:r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3591C-05A3-4EA8-898E-FE8B654A2EA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&amp; Objectives</a:t>
            </a:r>
          </a:p>
        </p:txBody>
      </p:sp>
      <p:sp>
        <p:nvSpPr>
          <p:cNvPr id="10" name="tb11"/>
          <p:cNvSpPr txBox="1"/>
          <p:nvPr/>
        </p:nvSpPr>
        <p:spPr>
          <a:xfrm>
            <a:off x="430000" y="880000"/>
            <a:ext cx="3980000" cy="48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700" b="1" i="0" dirty="0">
                <a:solidFill>
                  <a:srgbClr val="C00000"/>
                </a:solidFill>
                <a:latin typeface="Arial"/>
                <a:cs typeface="Arial"/>
              </a:rPr>
              <a:t>Why masked face recognition?</a:t>
            </a:r>
          </a:p>
        </p:txBody>
      </p:sp>
      <p:sp>
        <p:nvSpPr>
          <p:cNvPr id="12" name="tb13"/>
          <p:cNvSpPr txBox="1"/>
          <p:nvPr/>
        </p:nvSpPr>
        <p:spPr>
          <a:xfrm>
            <a:off x="430000" y="1350000"/>
            <a:ext cx="3980000" cy="360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marL="228600" indent="-228600" algn="l">
              <a:spcBef>
                <a:spcPts val="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350" b="0" i="0" dirty="0">
                <a:solidFill>
                  <a:srgbClr val="262626"/>
                </a:solidFill>
                <a:latin typeface="Arial"/>
                <a:cs typeface="Arial"/>
              </a:rPr>
              <a:t>Masks became a permanent fixture in many public settings — hospitals, transit, offices.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350" b="0" i="0" dirty="0">
                <a:solidFill>
                  <a:srgbClr val="262626"/>
                </a:solidFill>
                <a:latin typeface="Arial"/>
                <a:cs typeface="Arial"/>
              </a:rPr>
              <a:t>Conventional face recognition is trained on full faces and degrades sharply when the lower half is hidden.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350" b="0" i="0" dirty="0">
                <a:solidFill>
                  <a:srgbClr val="262626"/>
                </a:solidFill>
                <a:latin typeface="Arial"/>
                <a:cs typeface="Arial"/>
              </a:rPr>
              <a:t>Target use case: unlocking a personal device / access control while wearing a mask.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350" b="0" i="0" dirty="0">
                <a:solidFill>
                  <a:srgbClr val="262626"/>
                </a:solidFill>
                <a:latin typeface="Arial"/>
                <a:cs typeface="Arial"/>
              </a:rPr>
              <a:t>Scope: mask-type occlusion only; pretrained models only — no training, no fine-tuning.</a:t>
            </a:r>
          </a:p>
        </p:txBody>
      </p:sp>
      <p:sp>
        <p:nvSpPr>
          <p:cNvPr id="14" name="tb15"/>
          <p:cNvSpPr txBox="1"/>
          <p:nvPr/>
        </p:nvSpPr>
        <p:spPr>
          <a:xfrm>
            <a:off x="4650000" y="880000"/>
            <a:ext cx="4064000" cy="10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C00000"/>
                </a:solidFill>
                <a:latin typeface="Arial"/>
                <a:cs typeface="Arial"/>
              </a:rPr>
              <a:t>RQ1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200" b="0" i="0" dirty="0">
                <a:solidFill>
                  <a:srgbClr val="262626"/>
                </a:solidFill>
                <a:latin typeface="Arial"/>
                <a:cs typeface="Arial"/>
              </a:rPr>
              <a:t>How much accuracy is lost when the lower face is masked vs. unmasked?</a:t>
            </a:r>
          </a:p>
        </p:txBody>
      </p:sp>
      <p:sp>
        <p:nvSpPr>
          <p:cNvPr id="16" name="tb17"/>
          <p:cNvSpPr txBox="1"/>
          <p:nvPr/>
        </p:nvSpPr>
        <p:spPr>
          <a:xfrm>
            <a:off x="4650000" y="2060000"/>
            <a:ext cx="4064000" cy="10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C00000"/>
                </a:solidFill>
                <a:latin typeface="Arial"/>
                <a:cs typeface="Arial"/>
              </a:rPr>
              <a:t>RQ2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200" b="0" i="0" dirty="0">
                <a:solidFill>
                  <a:srgbClr val="262626"/>
                </a:solidFill>
                <a:latin typeface="Arial"/>
                <a:cs typeface="Arial"/>
              </a:rPr>
              <a:t>Does a masked-face specialist recover it — and at what cost on unmasked faces?</a:t>
            </a:r>
          </a:p>
        </p:txBody>
      </p:sp>
      <p:sp>
        <p:nvSpPr>
          <p:cNvPr id="18" name="tb19"/>
          <p:cNvSpPr txBox="1"/>
          <p:nvPr/>
        </p:nvSpPr>
        <p:spPr>
          <a:xfrm>
            <a:off x="4650000" y="3240000"/>
            <a:ext cx="4064000" cy="10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C00000"/>
                </a:solidFill>
                <a:latin typeface="Arial"/>
                <a:cs typeface="Arial"/>
              </a:rPr>
              <a:t>RQ3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200" b="0" i="0" dirty="0">
                <a:solidFill>
                  <a:srgbClr val="262626"/>
                </a:solidFill>
                <a:latin typeface="Arial"/>
                <a:cs typeface="Arial"/>
              </a:rPr>
              <a:t>Is the pipeline practical in real time on consumer hardware?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E092-3B81-466E-9B25-48CB49CD4D1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Proposed Approach — Recognition Pipeline</a:t>
            </a:r>
          </a:p>
        </p:txBody>
      </p:sp>
      <p:sp>
        <p:nvSpPr>
          <p:cNvPr id="20" name="tb21"/>
          <p:cNvSpPr txBox="1"/>
          <p:nvPr/>
        </p:nvSpPr>
        <p:spPr>
          <a:xfrm>
            <a:off x="430000" y="880000"/>
            <a:ext cx="8284000" cy="38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400" b="0" i="1" dirty="0">
                <a:solidFill>
                  <a:srgbClr val="595959"/>
                </a:solidFill>
                <a:latin typeface="Arial"/>
                <a:cs typeface="Arial"/>
              </a:rPr>
              <a:t>A four-stage pipeline; every stage is a separate, testable module.</a:t>
            </a:r>
          </a:p>
        </p:txBody>
      </p:sp>
      <p:sp>
        <p:nvSpPr>
          <p:cNvPr id="22" name="tb23"/>
          <p:cNvSpPr txBox="1"/>
          <p:nvPr/>
        </p:nvSpPr>
        <p:spPr>
          <a:xfrm>
            <a:off x="430000" y="1400000"/>
            <a:ext cx="1880000" cy="170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350" b="1" i="0" dirty="0">
                <a:solidFill>
                  <a:srgbClr val="FFFFFF"/>
                </a:solidFill>
                <a:latin typeface="Arial"/>
                <a:cs typeface="Arial"/>
              </a:rPr>
              <a:t>Detection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50" b="0" i="0" dirty="0">
                <a:solidFill>
                  <a:srgbClr val="FFE9E9"/>
                </a:solidFill>
                <a:latin typeface="Arial"/>
                <a:cs typeface="Arial"/>
              </a:rPr>
              <a:t>RetinaFace + 5 landmarks; robust to lower-face mask</a:t>
            </a:r>
          </a:p>
        </p:txBody>
      </p:sp>
      <p:sp>
        <p:nvSpPr>
          <p:cNvPr id="24" name="tb25"/>
          <p:cNvSpPr txBox="1"/>
          <p:nvPr/>
        </p:nvSpPr>
        <p:spPr>
          <a:xfrm>
            <a:off x="2310000" y="2090000"/>
            <a:ext cx="254666" cy="36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C00000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26" name="tb27"/>
          <p:cNvSpPr txBox="1"/>
          <p:nvPr/>
        </p:nvSpPr>
        <p:spPr>
          <a:xfrm>
            <a:off x="2564666" y="1400000"/>
            <a:ext cx="1880000" cy="170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350" b="1" i="0" dirty="0">
                <a:solidFill>
                  <a:srgbClr val="FFFFFF"/>
                </a:solidFill>
                <a:latin typeface="Arial"/>
                <a:cs typeface="Arial"/>
              </a:rPr>
              <a:t>Alignment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50" b="0" i="0" dirty="0">
                <a:solidFill>
                  <a:srgbClr val="FFE9E9"/>
                </a:solidFill>
                <a:latin typeface="Arial"/>
                <a:cs typeface="Arial"/>
              </a:rPr>
              <a:t>Affine warp to 112×112 canonical crop</a:t>
            </a:r>
          </a:p>
        </p:txBody>
      </p:sp>
      <p:sp>
        <p:nvSpPr>
          <p:cNvPr id="28" name="tb29"/>
          <p:cNvSpPr txBox="1"/>
          <p:nvPr/>
        </p:nvSpPr>
        <p:spPr>
          <a:xfrm>
            <a:off x="4444666" y="2090000"/>
            <a:ext cx="254666" cy="36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C00000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0" name="tb31"/>
          <p:cNvSpPr txBox="1"/>
          <p:nvPr/>
        </p:nvSpPr>
        <p:spPr>
          <a:xfrm>
            <a:off x="4699332" y="1400000"/>
            <a:ext cx="1880000" cy="170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350" b="1" i="0" dirty="0">
                <a:solidFill>
                  <a:srgbClr val="FFFFFF"/>
                </a:solidFill>
                <a:latin typeface="Arial"/>
                <a:cs typeface="Arial"/>
              </a:rPr>
              <a:t>Embedding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50" b="0" i="0" dirty="0">
                <a:solidFill>
                  <a:srgbClr val="FFE9E9"/>
                </a:solidFill>
                <a:latin typeface="Arial"/>
                <a:cs typeface="Arial"/>
              </a:rPr>
              <a:t>512-d L2-normalized vector; 3 backbones</a:t>
            </a:r>
          </a:p>
        </p:txBody>
      </p:sp>
      <p:sp>
        <p:nvSpPr>
          <p:cNvPr id="32" name="tb33"/>
          <p:cNvSpPr txBox="1"/>
          <p:nvPr/>
        </p:nvSpPr>
        <p:spPr>
          <a:xfrm>
            <a:off x="6579332" y="2090000"/>
            <a:ext cx="254666" cy="36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000" b="1" i="0" dirty="0">
                <a:solidFill>
                  <a:srgbClr val="C00000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34" name="tb35"/>
          <p:cNvSpPr txBox="1"/>
          <p:nvPr/>
        </p:nvSpPr>
        <p:spPr>
          <a:xfrm>
            <a:off x="6833998" y="1400000"/>
            <a:ext cx="1880000" cy="170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2400" b="1" i="0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350" b="1" i="0" dirty="0">
                <a:solidFill>
                  <a:srgbClr val="FFFFFF"/>
                </a:solidFill>
                <a:latin typeface="Arial"/>
                <a:cs typeface="Arial"/>
              </a:rPr>
              <a:t>Matching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50" b="0" i="0" dirty="0">
                <a:solidFill>
                  <a:srgbClr val="FFE9E9"/>
                </a:solidFill>
                <a:latin typeface="Arial"/>
                <a:cs typeface="Arial"/>
              </a:rPr>
              <a:t>Cosine similarity, top-K identity</a:t>
            </a:r>
          </a:p>
        </p:txBody>
      </p:sp>
      <p:sp>
        <p:nvSpPr>
          <p:cNvPr id="36" name="tb37"/>
          <p:cNvSpPr txBox="1"/>
          <p:nvPr/>
        </p:nvSpPr>
        <p:spPr>
          <a:xfrm>
            <a:off x="430000" y="3460000"/>
            <a:ext cx="8284000" cy="900000"/>
          </a:xfrm>
          <a:prstGeom prst="roundRect">
            <a:avLst>
              <a:gd name="adj" fmla="val 6000"/>
            </a:avLst>
          </a:prstGeom>
          <a:solidFill>
            <a:srgbClr val="F3E0E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0000"/>
                </a:solidFill>
                <a:latin typeface="Arial"/>
                <a:cs typeface="Arial"/>
              </a:rPr>
              <a:t xml:space="preserve">Key principle:  </a:t>
            </a:r>
            <a:r>
              <a:rPr lang="en-US" sz="1300" b="0" i="0" dirty="0">
                <a:solidFill>
                  <a:srgbClr val="262626"/>
                </a:solidFill>
                <a:latin typeface="Arial"/>
                <a:cs typeface="Arial"/>
              </a:rPr>
              <a:t>all backbones emit a 512-d L2-normalized embedding and share identical preprocessing — so one matcher serves every model and the comparison stays fair.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7BF2E-7FF9-4414-A286-D741BDAA240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Three Models — A Degradation Story</a:t>
            </a:r>
          </a:p>
        </p:txBody>
      </p:sp>
      <p:sp>
        <p:nvSpPr>
          <p:cNvPr id="38" name="tb39"/>
          <p:cNvSpPr txBox="1"/>
          <p:nvPr/>
        </p:nvSpPr>
        <p:spPr>
          <a:xfrm>
            <a:off x="430000" y="880000"/>
            <a:ext cx="8284000" cy="36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0" i="1" dirty="0">
                <a:solidFill>
                  <a:srgbClr val="595959"/>
                </a:solidFill>
                <a:latin typeface="Arial"/>
                <a:cs typeface="Arial"/>
              </a:rPr>
              <a:t>Three backbones span the spectrum from a generic model to a masked specialist, plus an ensemble.</a:t>
            </a:r>
          </a:p>
        </p:txBody>
      </p:sp>
      <p:graphicFrame>
        <p:nvGraphicFramePr>
          <p:cNvPr id="40" name="table41"/>
          <p:cNvGraphicFramePr>
            <a:graphicFrameLocks noGrp="1"/>
          </p:cNvGraphicFramePr>
          <p:nvPr/>
        </p:nvGraphicFramePr>
        <p:xfrm>
          <a:off x="430000" y="1350000"/>
          <a:ext cx="8284000" cy="3100000"/>
        </p:xfrm>
        <a:graphic>
          <a:graphicData uri="http://schemas.openxmlformats.org/drawingml/2006/table">
            <a:tbl>
              <a:tblPr firstRow="1" bandRow="1"/>
              <a:tblGrid>
                <a:gridCol w="2300000"/>
                <a:gridCol w="2600000"/>
                <a:gridCol w="3384000"/>
              </a:tblGrid>
              <a:tr h="589000"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Model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Training data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Role in the study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FaceNet (Inception-ResNet-V1)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VGGFace2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Weak baseline — pre-masked era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ArcFace R100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Glint360K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Strong general-purpose baseline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LVFace (ICCV 2025)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Glint360K + MFR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Masked specialist — challenge #1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6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Ensemble (ArcFace + LVFace)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Score-level fusion (improvement)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057C8-8CB5-4618-AB2B-96C4E34E72E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Datasets &amp; Evaluation Protocol</a:t>
            </a:r>
          </a:p>
        </p:txBody>
      </p:sp>
      <p:sp>
        <p:nvSpPr>
          <p:cNvPr id="42" name="tb43"/>
          <p:cNvSpPr txBox="1"/>
          <p:nvPr/>
        </p:nvSpPr>
        <p:spPr>
          <a:xfrm>
            <a:off x="430000" y="840000"/>
            <a:ext cx="3980000" cy="34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C00000"/>
                </a:solidFill>
                <a:latin typeface="Arial"/>
                <a:cs typeface="Arial"/>
              </a:rPr>
              <a:t>Datasets — one role each</a:t>
            </a:r>
          </a:p>
        </p:txBody>
      </p:sp>
      <p:graphicFrame>
        <p:nvGraphicFramePr>
          <p:cNvPr id="44" name="table45"/>
          <p:cNvGraphicFramePr>
            <a:graphicFrameLocks noGrp="1"/>
          </p:cNvGraphicFramePr>
          <p:nvPr/>
        </p:nvGraphicFramePr>
        <p:xfrm>
          <a:off x="430000" y="1210000"/>
          <a:ext cx="3980000" cy="3360000"/>
        </p:xfrm>
        <a:graphic>
          <a:graphicData uri="http://schemas.openxmlformats.org/drawingml/2006/table">
            <a:tbl>
              <a:tblPr firstRow="1" bandRow="1"/>
              <a:tblGrid>
                <a:gridCol w="1700000"/>
                <a:gridCol w="2280000"/>
              </a:tblGrid>
              <a:tr h="53200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LFW raw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Unmasked ceiling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LFW + MaskTheFace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Main controlled test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RMFRD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Real-world validation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MAFA (subset)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Mask-style stress (planned)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Team photos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Live demo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6" name="tb47"/>
          <p:cNvSpPr txBox="1"/>
          <p:nvPr/>
        </p:nvSpPr>
        <p:spPr>
          <a:xfrm>
            <a:off x="4650000" y="840000"/>
            <a:ext cx="4064000" cy="34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500" b="1" i="0" dirty="0">
                <a:solidFill>
                  <a:srgbClr val="C00000"/>
                </a:solidFill>
                <a:latin typeface="Arial"/>
                <a:cs typeface="Arial"/>
              </a:rPr>
              <a:t>Enrollment &amp; metrics</a:t>
            </a:r>
          </a:p>
        </p:txBody>
      </p:sp>
      <p:sp>
        <p:nvSpPr>
          <p:cNvPr id="48" name="tb49"/>
          <p:cNvSpPr txBox="1"/>
          <p:nvPr/>
        </p:nvSpPr>
        <p:spPr>
          <a:xfrm>
            <a:off x="4650000" y="1210000"/>
            <a:ext cx="4064000" cy="330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marL="228600" indent="-228600" algn="l">
              <a:spcBef>
                <a:spcPts val="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250" b="0" i="0" dirty="0">
                <a:solidFill>
                  <a:srgbClr val="262626"/>
                </a:solidFill>
                <a:latin typeface="Arial"/>
                <a:cs typeface="Arial"/>
              </a:rPr>
              <a:t>K-shot gallery: K=1 baseline (fair vs. literature), K=3–5 for realistic phone-unlock.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250" b="0" i="0" dirty="0">
                <a:solidFill>
                  <a:srgbClr val="262626"/>
                </a:solidFill>
                <a:latin typeface="Arial"/>
                <a:cs typeface="Arial"/>
              </a:rPr>
              <a:t>Probe = a different masked image of the same person; never reused in gallery.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250" b="0" i="0" dirty="0">
                <a:solidFill>
                  <a:srgbClr val="262626"/>
                </a:solidFill>
                <a:latin typeface="Arial"/>
                <a:cs typeface="Arial"/>
              </a:rPr>
              <a:t>Identification: Rank-1 / Rank-5 / CMC.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250" b="0" i="0" dirty="0">
                <a:solidFill>
                  <a:srgbClr val="262626"/>
                </a:solidFill>
                <a:latin typeface="Arial"/>
                <a:cs typeface="Arial"/>
              </a:rPr>
              <a:t>Verification: EER and TAR @ FAR (1e-3, 1e-2, 1e-1), ROC.</a:t>
            </a:r>
          </a:p>
          <a:p>
            <a:pPr marL="228600" indent="-228600" algn="l">
              <a:spcBef>
                <a:spcPts val="400"/>
              </a:spcBef>
              <a:buClr>
                <a:srgbClr val="C00000"/>
              </a:buClr>
              <a:buFont typeface="Arial"/>
              <a:buChar char="•"/>
            </a:pPr>
            <a:r>
              <a:rPr lang="en-US" sz="1250" b="0" i="0" dirty="0">
                <a:solidFill>
                  <a:srgbClr val="262626"/>
                </a:solidFill>
                <a:latin typeface="Arial"/>
                <a:cs typeface="Arial"/>
              </a:rPr>
              <a:t>Headline subset: 500 LFW identities; identical 112×112 preprocessing throughout.</a:t>
            </a: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BA4A7-9435-4F00-94F0-BA25034FEB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— LFW Controlled Test (K = 1)</a:t>
            </a:r>
          </a:p>
        </p:txBody>
      </p:sp>
      <p:sp>
        <p:nvSpPr>
          <p:cNvPr id="50" name="tb51"/>
          <p:cNvSpPr txBox="1"/>
          <p:nvPr/>
        </p:nvSpPr>
        <p:spPr>
          <a:xfrm>
            <a:off x="430000" y="860000"/>
            <a:ext cx="8284000" cy="34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0" i="1" dirty="0">
                <a:solidFill>
                  <a:srgbClr val="595959"/>
                </a:solidFill>
                <a:latin typeface="Arial"/>
                <a:cs typeface="Arial"/>
              </a:rPr>
              <a:t>On clean synthetic masks the strong models barely degrade; the weak baseline collapses.</a:t>
            </a:r>
          </a:p>
        </p:txBody>
      </p:sp>
      <p:sp>
        <p:nvSpPr>
          <p:cNvPr id="52" name="tb53"/>
          <p:cNvSpPr txBox="1"/>
          <p:nvPr/>
        </p:nvSpPr>
        <p:spPr>
          <a:xfrm>
            <a:off x="430000" y="1300000"/>
            <a:ext cx="2561333" cy="15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595959"/>
                </a:solidFill>
                <a:latin typeface="Arial"/>
                <a:cs typeface="Arial"/>
              </a:rPr>
              <a:t>66.9%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200" b="1" i="0" dirty="0">
                <a:solidFill>
                  <a:srgbClr val="262626"/>
                </a:solidFill>
                <a:latin typeface="Arial"/>
                <a:cs typeface="Arial"/>
              </a:rPr>
              <a:t>FaceNet — weak baseline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/>
                <a:cs typeface="Arial"/>
              </a:rPr>
              <a:t>Rank-1 (masked)</a:t>
            </a:r>
          </a:p>
        </p:txBody>
      </p:sp>
      <p:sp>
        <p:nvSpPr>
          <p:cNvPr id="54" name="tb55"/>
          <p:cNvSpPr txBox="1"/>
          <p:nvPr/>
        </p:nvSpPr>
        <p:spPr>
          <a:xfrm>
            <a:off x="3291333" y="1300000"/>
            <a:ext cx="2561333" cy="1500000"/>
          </a:xfrm>
          <a:prstGeom prst="roundRect">
            <a:avLst>
              <a:gd name="adj" fmla="val 6000"/>
            </a:avLst>
          </a:prstGeom>
          <a:solidFill>
            <a:srgbClr val="F3E0E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C00000"/>
                </a:solidFill>
                <a:latin typeface="Arial"/>
                <a:cs typeface="Arial"/>
              </a:rPr>
              <a:t>95.2%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200" b="1" i="0" dirty="0">
                <a:solidFill>
                  <a:srgbClr val="262626"/>
                </a:solidFill>
                <a:latin typeface="Arial"/>
                <a:cs typeface="Arial"/>
              </a:rPr>
              <a:t>ArcFace R100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/>
                <a:cs typeface="Arial"/>
              </a:rPr>
              <a:t>Rank-1 (masked)</a:t>
            </a:r>
          </a:p>
        </p:txBody>
      </p:sp>
      <p:sp>
        <p:nvSpPr>
          <p:cNvPr id="56" name="tb57"/>
          <p:cNvSpPr txBox="1"/>
          <p:nvPr/>
        </p:nvSpPr>
        <p:spPr>
          <a:xfrm>
            <a:off x="6152666" y="1300000"/>
            <a:ext cx="2561333" cy="1500000"/>
          </a:xfrm>
          <a:prstGeom prst="roundRect">
            <a:avLst>
              <a:gd name="adj" fmla="val 6000"/>
            </a:avLst>
          </a:prstGeom>
          <a:solidFill>
            <a:srgbClr val="F3E0E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C00000"/>
                </a:solidFill>
                <a:latin typeface="Arial"/>
                <a:cs typeface="Arial"/>
              </a:rPr>
              <a:t>95.9%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200" b="1" i="0" dirty="0">
                <a:solidFill>
                  <a:srgbClr val="262626"/>
                </a:solidFill>
                <a:latin typeface="Arial"/>
                <a:cs typeface="Arial"/>
              </a:rPr>
              <a:t>LVFace — specialist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/>
                <a:cs typeface="Arial"/>
              </a:rPr>
              <a:t>Rank-1 (masked)</a:t>
            </a:r>
          </a:p>
        </p:txBody>
      </p:sp>
      <p:sp>
        <p:nvSpPr>
          <p:cNvPr id="58" name="tb59"/>
          <p:cNvSpPr txBox="1"/>
          <p:nvPr/>
        </p:nvSpPr>
        <p:spPr>
          <a:xfrm>
            <a:off x="430000" y="3000000"/>
            <a:ext cx="8284000" cy="1000000"/>
          </a:xfrm>
          <a:prstGeom prst="roundRect">
            <a:avLst>
              <a:gd name="adj" fmla="val 6000"/>
            </a:avLst>
          </a:prstGeom>
          <a:solidFill>
            <a:srgbClr val="F3E0E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0000"/>
                </a:solidFill>
                <a:latin typeface="Arial"/>
                <a:cs typeface="Arial"/>
              </a:rPr>
              <a:t xml:space="preserve">Unmasked ArcFace ceiling ≈ 98%.  </a:t>
            </a:r>
            <a:r>
              <a:rPr lang="en-US" sz="1300" b="0" i="0" dirty="0">
                <a:solidFill>
                  <a:srgbClr val="262626"/>
                </a:solidFill>
                <a:latin typeface="Arial"/>
                <a:cs typeface="Arial"/>
              </a:rPr>
              <a:t>ArcFace and LVFace stay within ~3 points of it under synthetic masks; the ensemble adds &lt; 0.1%. Synthetic masking alone barely dents a modern model.</a:t>
            </a:r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0FF8E-61B6-4F8D-9BF5-ABC1277AF4D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— RMFRD Real-World &amp; Domain Gap</a:t>
            </a:r>
          </a:p>
        </p:txBody>
      </p:sp>
      <p:sp>
        <p:nvSpPr>
          <p:cNvPr id="60" name="tb61"/>
          <p:cNvSpPr txBox="1"/>
          <p:nvPr/>
        </p:nvSpPr>
        <p:spPr>
          <a:xfrm>
            <a:off x="430000" y="860000"/>
            <a:ext cx="8284000" cy="34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0" i="1" dirty="0">
                <a:solidFill>
                  <a:srgbClr val="595959"/>
                </a:solidFill>
                <a:latin typeface="Arial"/>
                <a:cs typeface="Arial"/>
              </a:rPr>
              <a:t>Real masks expose a large domain gap — and reveal where improvement levers pay off.</a:t>
            </a:r>
          </a:p>
        </p:txBody>
      </p:sp>
      <p:sp>
        <p:nvSpPr>
          <p:cNvPr id="62" name="tb63"/>
          <p:cNvSpPr txBox="1"/>
          <p:nvPr/>
        </p:nvSpPr>
        <p:spPr>
          <a:xfrm>
            <a:off x="430000" y="1300000"/>
            <a:ext cx="3992000" cy="1350000"/>
          </a:xfrm>
          <a:prstGeom prst="roundRect">
            <a:avLst>
              <a:gd name="adj" fmla="val 6000"/>
            </a:avLst>
          </a:prstGeom>
          <a:solidFill>
            <a:srgbClr val="F3E0E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C00000"/>
                </a:solidFill>
                <a:latin typeface="Arial"/>
                <a:cs typeface="Arial"/>
              </a:rPr>
              <a:t>96% → 61%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200" b="1" i="0" dirty="0">
                <a:solidFill>
                  <a:srgbClr val="262626"/>
                </a:solidFill>
                <a:latin typeface="Arial"/>
                <a:cs typeface="Arial"/>
              </a:rPr>
              <a:t>Synthetic LFW → real RMFRD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/>
                <a:cs typeface="Arial"/>
              </a:rPr>
              <a:t>Rank-1 drop</a:t>
            </a:r>
          </a:p>
        </p:txBody>
      </p:sp>
      <p:sp>
        <p:nvSpPr>
          <p:cNvPr id="64" name="tb65"/>
          <p:cNvSpPr txBox="1"/>
          <p:nvPr/>
        </p:nvSpPr>
        <p:spPr>
          <a:xfrm>
            <a:off x="4722000" y="1300000"/>
            <a:ext cx="3992000" cy="135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4000" b="1" i="0" dirty="0">
                <a:solidFill>
                  <a:srgbClr val="262626"/>
                </a:solidFill>
                <a:latin typeface="Arial"/>
                <a:cs typeface="Arial"/>
              </a:rPr>
              <a:t>31% → 61%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200" b="1" i="0" dirty="0">
                <a:solidFill>
                  <a:srgbClr val="262626"/>
                </a:solidFill>
                <a:latin typeface="Arial"/>
                <a:cs typeface="Arial"/>
              </a:rPr>
              <a:t>Single model → ensemble + levers</a:t>
            </a:r>
          </a:p>
          <a:p>
            <a:pPr algn="ctr">
              <a:spcBef>
                <a:spcPts val="120"/>
              </a:spcBef>
              <a:buNone/>
            </a:pPr>
            <a:r>
              <a:rPr lang="en-US" sz="1000" b="0" i="0" dirty="0">
                <a:solidFill>
                  <a:srgbClr val="595959"/>
                </a:solidFill>
                <a:latin typeface="Arial"/>
                <a:cs typeface="Arial"/>
              </a:rPr>
              <a:t>Rank-1 nearly doubled</a:t>
            </a:r>
          </a:p>
        </p:txBody>
      </p:sp>
      <p:graphicFrame>
        <p:nvGraphicFramePr>
          <p:cNvPr id="66" name="table67"/>
          <p:cNvGraphicFramePr>
            <a:graphicFrameLocks noGrp="1"/>
          </p:cNvGraphicFramePr>
          <p:nvPr/>
        </p:nvGraphicFramePr>
        <p:xfrm>
          <a:off x="430000" y="2800000"/>
          <a:ext cx="8284000" cy="1410000"/>
        </p:xfrm>
        <a:graphic>
          <a:graphicData uri="http://schemas.openxmlformats.org/drawingml/2006/table">
            <a:tbl>
              <a:tblPr firstRow="1" bandRow="1"/>
              <a:tblGrid>
                <a:gridCol w="4084000"/>
                <a:gridCol w="1400000"/>
                <a:gridCol w="1400000"/>
                <a:gridCol w="1400000"/>
              </a:tblGrid>
              <a:tr h="446500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Configuration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Rank-1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Rank-5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Rank-10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ArcFace single-model (K=1, early run)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0.315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0.492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Ensemble + levers (clean subset, K=5)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0.612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0.715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0.744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8" name="tb69"/>
          <p:cNvSpPr txBox="1"/>
          <p:nvPr/>
        </p:nvSpPr>
        <p:spPr>
          <a:xfrm>
            <a:off x="430000" y="4210000"/>
            <a:ext cx="8284000" cy="56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50" b="1" i="0" dirty="0">
                <a:solidFill>
                  <a:srgbClr val="C00000"/>
                </a:solidFill>
                <a:latin typeface="Arial"/>
                <a:cs typeface="Arial"/>
              </a:rPr>
              <a:t xml:space="preserve">Takeaway:  </a:t>
            </a:r>
            <a:r>
              <a:rPr lang="en-US" sz="1250" b="0" i="0" dirty="0">
                <a:solidFill>
                  <a:srgbClr val="262626"/>
                </a:solidFill>
                <a:latin typeface="Arial"/>
                <a:cs typeface="Arial"/>
              </a:rPr>
              <a:t>synthetic benchmarks overstate real-world readiness; stacking multi-shot, padding, fallback, ensemble and TTA closes much of the gap.</a:t>
            </a:r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924BA-3D2F-4049-AAF4-5C38D6B18F25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Finding — Occlusion-Aware Preprocessing Doesn’t Help</a:t>
            </a:r>
          </a:p>
        </p:txBody>
      </p:sp>
      <p:sp>
        <p:nvSpPr>
          <p:cNvPr id="70" name="tb71"/>
          <p:cNvSpPr txBox="1"/>
          <p:nvPr/>
        </p:nvSpPr>
        <p:spPr>
          <a:xfrm>
            <a:off x="430000" y="860000"/>
            <a:ext cx="8284000" cy="34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0" i="1" dirty="0">
                <a:solidFill>
                  <a:srgbClr val="595959"/>
                </a:solidFill>
                <a:latin typeface="Arial"/>
                <a:cs typeface="Arial"/>
              </a:rPr>
              <a:t>Occlusion-aware preprocessing was tested in isolation on RMFRD — none beat the baseline.</a:t>
            </a:r>
          </a:p>
        </p:txBody>
      </p:sp>
      <p:graphicFrame>
        <p:nvGraphicFramePr>
          <p:cNvPr id="72" name="table73"/>
          <p:cNvGraphicFramePr>
            <a:graphicFrameLocks noGrp="1"/>
          </p:cNvGraphicFramePr>
          <p:nvPr/>
        </p:nvGraphicFramePr>
        <p:xfrm>
          <a:off x="430000" y="1300000"/>
          <a:ext cx="8284000" cy="2080000"/>
        </p:xfrm>
        <a:graphic>
          <a:graphicData uri="http://schemas.openxmlformats.org/drawingml/2006/table">
            <a:tbl>
              <a:tblPr firstRow="1" bandRow="1"/>
              <a:tblGrid>
                <a:gridCol w="4584000"/>
                <a:gridCol w="1850000"/>
                <a:gridCol w="1850000"/>
              </a:tblGrid>
              <a:tr h="49400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Lever (vs. baseline 0.612 Rank-1)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Δ Rank-1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Verdict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3-point / auto alignment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−1.8 pts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slightly worse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Gray-out lower-half mask region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−8.6 pts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much worse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Calibrated score fusion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≈ 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neutral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4" name="tb75"/>
          <p:cNvSpPr txBox="1"/>
          <p:nvPr/>
        </p:nvSpPr>
        <p:spPr>
          <a:xfrm>
            <a:off x="430000" y="3430000"/>
            <a:ext cx="8284000" cy="1300000"/>
          </a:xfrm>
          <a:prstGeom prst="roundRect">
            <a:avLst>
              <a:gd name="adj" fmla="val 6000"/>
            </a:avLst>
          </a:prstGeom>
          <a:solidFill>
            <a:srgbClr val="F3E0E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00" b="1" i="0" dirty="0">
                <a:solidFill>
                  <a:srgbClr val="C00000"/>
                </a:solidFill>
                <a:latin typeface="Arial"/>
                <a:cs typeface="Arial"/>
              </a:rPr>
              <a:t xml:space="preserve">Conclusion:  </a:t>
            </a:r>
            <a:r>
              <a:rPr lang="en-US" sz="1300" b="0" i="0" dirty="0">
                <a:solidFill>
                  <a:srgbClr val="262626"/>
                </a:solidFill>
                <a:latin typeface="Arial"/>
                <a:cs typeface="Arial"/>
              </a:rPr>
              <a:t>under the pretrained-only constraint, the ~61% RMFRD ceiling is limited by the data (low-resolution faces ≈107 px, residual label noise), not by the pipeline. A valid negative result — robustness already lives in the model weights, so hand-crafted occlusion preprocessing adds no value.</a:t>
            </a:r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FE811-7D5C-428D-8B7E-F7CBA21EAFB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Difficulties Encountered</a:t>
            </a:r>
          </a:p>
        </p:txBody>
      </p:sp>
      <p:sp>
        <p:nvSpPr>
          <p:cNvPr id="76" name="tb77"/>
          <p:cNvSpPr txBox="1"/>
          <p:nvPr/>
        </p:nvSpPr>
        <p:spPr>
          <a:xfrm>
            <a:off x="430000" y="880000"/>
            <a:ext cx="3992000" cy="11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C00000"/>
                </a:solidFill>
                <a:latin typeface="Arial"/>
                <a:cs typeface="Arial"/>
              </a:rPr>
              <a:t>Synthetic→real domain gap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150" b="0" i="0" dirty="0">
                <a:solidFill>
                  <a:srgbClr val="262626"/>
                </a:solidFill>
                <a:latin typeface="Arial"/>
                <a:cs typeface="Arial"/>
              </a:rPr>
              <a:t>Models near-perfect on synthetic LFW (~96%) dropped to 31–61% on real-masked RMFRD.</a:t>
            </a:r>
          </a:p>
        </p:txBody>
      </p:sp>
      <p:sp>
        <p:nvSpPr>
          <p:cNvPr id="78" name="tb79"/>
          <p:cNvSpPr txBox="1"/>
          <p:nvPr/>
        </p:nvSpPr>
        <p:spPr>
          <a:xfrm>
            <a:off x="4722000" y="880000"/>
            <a:ext cx="3992000" cy="11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C00000"/>
                </a:solidFill>
                <a:latin typeface="Arial"/>
                <a:cs typeface="Arial"/>
              </a:rPr>
              <a:t>RMFRD label noise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150" b="0" i="0" dirty="0">
                <a:solidFill>
                  <a:srgbClr val="262626"/>
                </a:solidFill>
                <a:latin typeface="Arial"/>
                <a:cs typeface="Arial"/>
              </a:rPr>
              <a:t>~74% of probes flagged as suspect — a cleaned 397-identity subset had to be built.</a:t>
            </a:r>
          </a:p>
        </p:txBody>
      </p:sp>
      <p:sp>
        <p:nvSpPr>
          <p:cNvPr id="80" name="tb81"/>
          <p:cNvSpPr txBox="1"/>
          <p:nvPr/>
        </p:nvSpPr>
        <p:spPr>
          <a:xfrm>
            <a:off x="430000" y="2180000"/>
            <a:ext cx="3992000" cy="11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C00000"/>
                </a:solidFill>
                <a:latin typeface="Arial"/>
                <a:cs typeface="Arial"/>
              </a:rPr>
              <a:t>Low-res, tight-crop faces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150" b="0" i="0" dirty="0">
                <a:solidFill>
                  <a:srgbClr val="262626"/>
                </a:solidFill>
                <a:latin typeface="Arial"/>
                <a:cs typeface="Arial"/>
              </a:rPr>
              <a:t>Median short edge ~107 px broke RetinaFace; needed reflect-padding + resize fallback.</a:t>
            </a:r>
          </a:p>
        </p:txBody>
      </p:sp>
      <p:sp>
        <p:nvSpPr>
          <p:cNvPr id="82" name="tb83"/>
          <p:cNvSpPr txBox="1"/>
          <p:nvPr/>
        </p:nvSpPr>
        <p:spPr>
          <a:xfrm>
            <a:off x="4722000" y="2180000"/>
            <a:ext cx="3992000" cy="11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C00000"/>
                </a:solidFill>
                <a:latin typeface="Arial"/>
                <a:cs typeface="Arial"/>
              </a:rPr>
              <a:t>LVFace channel-order bug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150" b="0" i="0" dirty="0">
                <a:solidFill>
                  <a:srgbClr val="262626"/>
                </a:solidFill>
                <a:latin typeface="Arial"/>
                <a:cs typeface="Arial"/>
              </a:rPr>
              <a:t>LVFace expects RGB vs. ArcFace BGR; the mismatch silently degraded embeddings.</a:t>
            </a:r>
          </a:p>
        </p:txBody>
      </p:sp>
      <p:sp>
        <p:nvSpPr>
          <p:cNvPr id="84" name="tb85"/>
          <p:cNvSpPr txBox="1"/>
          <p:nvPr/>
        </p:nvSpPr>
        <p:spPr>
          <a:xfrm>
            <a:off x="430000" y="3480000"/>
            <a:ext cx="3992000" cy="11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C00000"/>
                </a:solidFill>
                <a:latin typeface="Arial"/>
                <a:cs typeface="Arial"/>
              </a:rPr>
              <a:t>Pretrained-weight formats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150" b="0" i="0" dirty="0">
                <a:solidFill>
                  <a:srgbClr val="262626"/>
                </a:solidFill>
                <a:latin typeface="Arial"/>
                <a:cs typeface="Arial"/>
              </a:rPr>
              <a:t>Heterogeneous formats standardized onto ONNX Runtime as a common backend.</a:t>
            </a:r>
          </a:p>
        </p:txBody>
      </p:sp>
      <p:sp>
        <p:nvSpPr>
          <p:cNvPr id="86" name="tb87"/>
          <p:cNvSpPr txBox="1"/>
          <p:nvPr/>
        </p:nvSpPr>
        <p:spPr>
          <a:xfrm>
            <a:off x="4722000" y="3480000"/>
            <a:ext cx="3992000" cy="11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C00000"/>
                </a:solidFill>
                <a:latin typeface="Arial"/>
                <a:cs typeface="Arial"/>
              </a:rPr>
              <a:t>Occlusion levers = negative result</a:t>
            </a:r>
          </a:p>
          <a:p>
            <a:pPr algn="l">
              <a:spcBef>
                <a:spcPts val="120"/>
              </a:spcBef>
              <a:buNone/>
            </a:pPr>
            <a:r>
              <a:rPr lang="en-US" sz="1150" b="0" i="0" dirty="0">
                <a:solidFill>
                  <a:srgbClr val="262626"/>
                </a:solidFill>
                <a:latin typeface="Arial"/>
                <a:cs typeface="Arial"/>
              </a:rPr>
              <a:t>Significant effort on alignment / mask levers ended as a documented negative result.</a:t>
            </a:r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668D0-2590-417A-A47F-745E4D3E52E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Plans</a:t>
            </a:r>
          </a:p>
        </p:txBody>
      </p:sp>
      <p:sp>
        <p:nvSpPr>
          <p:cNvPr id="88" name="tb89"/>
          <p:cNvSpPr txBox="1"/>
          <p:nvPr/>
        </p:nvSpPr>
        <p:spPr>
          <a:xfrm>
            <a:off x="430000" y="860000"/>
            <a:ext cx="8284000" cy="34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0" i="1" dirty="0">
                <a:solidFill>
                  <a:srgbClr val="595959"/>
                </a:solidFill>
                <a:latin typeface="Arial"/>
                <a:cs typeface="Arial"/>
              </a:rPr>
              <a:t>Stages 1–4 are complete; remaining work is the demo and final deliverables.</a:t>
            </a:r>
          </a:p>
        </p:txBody>
      </p:sp>
      <p:sp>
        <p:nvSpPr>
          <p:cNvPr id="90" name="tb91"/>
          <p:cNvSpPr txBox="1"/>
          <p:nvPr/>
        </p:nvSpPr>
        <p:spPr>
          <a:xfrm>
            <a:off x="430000" y="1320000"/>
            <a:ext cx="520000" cy="5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92" name="tb93"/>
          <p:cNvSpPr txBox="1"/>
          <p:nvPr/>
        </p:nvSpPr>
        <p:spPr>
          <a:xfrm>
            <a:off x="1050000" y="1320000"/>
            <a:ext cx="7664000" cy="560000"/>
          </a:xfrm>
          <a:prstGeom prst="rect">
            <a:avLst/>
          </a:prstGeom>
          <a:noFill/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262626"/>
                </a:solidFill>
                <a:latin typeface="Arial"/>
                <a:cs typeface="Arial"/>
              </a:rPr>
              <a:t xml:space="preserve">Real-time webcam demo:  </a:t>
            </a:r>
            <a:r>
              <a:rPr lang="en-US" sz="1300" b="0" i="0" dirty="0">
                <a:solidFill>
                  <a:srgbClr val="595959"/>
                </a:solidFill>
                <a:latin typeface="Arial"/>
                <a:cs typeface="Arial"/>
              </a:rPr>
              <a:t>Implement the 1:N Gradio app (enroll + identify + webcam stream).</a:t>
            </a:r>
          </a:p>
        </p:txBody>
      </p:sp>
      <p:sp>
        <p:nvSpPr>
          <p:cNvPr id="94" name="tb95"/>
          <p:cNvSpPr txBox="1"/>
          <p:nvPr/>
        </p:nvSpPr>
        <p:spPr>
          <a:xfrm>
            <a:off x="430000" y="2010000"/>
            <a:ext cx="520000" cy="5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96" name="tb97"/>
          <p:cNvSpPr txBox="1"/>
          <p:nvPr/>
        </p:nvSpPr>
        <p:spPr>
          <a:xfrm>
            <a:off x="1050000" y="2010000"/>
            <a:ext cx="7664000" cy="560000"/>
          </a:xfrm>
          <a:prstGeom prst="rect">
            <a:avLst/>
          </a:prstGeom>
          <a:noFill/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262626"/>
                </a:solidFill>
                <a:latin typeface="Arial"/>
                <a:cs typeface="Arial"/>
              </a:rPr>
              <a:t xml:space="preserve">Collect team photos:  </a:t>
            </a:r>
            <a:r>
              <a:rPr lang="en-US" sz="1300" b="0" i="0" dirty="0">
                <a:solidFill>
                  <a:srgbClr val="595959"/>
                </a:solidFill>
                <a:latin typeface="Arial"/>
                <a:cs typeface="Arial"/>
              </a:rPr>
              <a:t>≥1 unmasked + 1 masked image per member for the live demo.</a:t>
            </a:r>
          </a:p>
        </p:txBody>
      </p:sp>
      <p:sp>
        <p:nvSpPr>
          <p:cNvPr id="98" name="tb99"/>
          <p:cNvSpPr txBox="1"/>
          <p:nvPr/>
        </p:nvSpPr>
        <p:spPr>
          <a:xfrm>
            <a:off x="430000" y="2700000"/>
            <a:ext cx="520000" cy="5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0" name="tb101"/>
          <p:cNvSpPr txBox="1"/>
          <p:nvPr/>
        </p:nvSpPr>
        <p:spPr>
          <a:xfrm>
            <a:off x="1050000" y="2700000"/>
            <a:ext cx="7664000" cy="560000"/>
          </a:xfrm>
          <a:prstGeom prst="rect">
            <a:avLst/>
          </a:prstGeom>
          <a:noFill/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262626"/>
                </a:solidFill>
                <a:latin typeface="Arial"/>
                <a:cs typeface="Arial"/>
              </a:rPr>
              <a:t xml:space="preserve">Add MAFA stress test:  </a:t>
            </a:r>
            <a:r>
              <a:rPr lang="en-US" sz="1300" b="0" i="0" dirty="0">
                <a:solidFill>
                  <a:srgbClr val="595959"/>
                </a:solidFill>
                <a:latin typeface="Arial"/>
                <a:cs typeface="Arial"/>
              </a:rPr>
              <a:t>Robustness across mask type, color and head pose.</a:t>
            </a:r>
          </a:p>
        </p:txBody>
      </p:sp>
      <p:sp>
        <p:nvSpPr>
          <p:cNvPr id="102" name="tb103"/>
          <p:cNvSpPr txBox="1"/>
          <p:nvPr/>
        </p:nvSpPr>
        <p:spPr>
          <a:xfrm>
            <a:off x="430000" y="3390000"/>
            <a:ext cx="520000" cy="5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4" name="tb105"/>
          <p:cNvSpPr txBox="1"/>
          <p:nvPr/>
        </p:nvSpPr>
        <p:spPr>
          <a:xfrm>
            <a:off x="1050000" y="3390000"/>
            <a:ext cx="7664000" cy="560000"/>
          </a:xfrm>
          <a:prstGeom prst="rect">
            <a:avLst/>
          </a:prstGeom>
          <a:noFill/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262626"/>
                </a:solidFill>
                <a:latin typeface="Arial"/>
                <a:cs typeface="Arial"/>
              </a:rPr>
              <a:t xml:space="preserve">Report latency:  </a:t>
            </a:r>
            <a:r>
              <a:rPr lang="en-US" sz="1300" b="0" i="0" dirty="0">
                <a:solidFill>
                  <a:srgbClr val="595959"/>
                </a:solidFill>
                <a:latin typeface="Arial"/>
                <a:cs typeface="Arial"/>
              </a:rPr>
              <a:t>Surface GPU / CPU end-to-end latency to answer RQ3.</a:t>
            </a:r>
          </a:p>
        </p:txBody>
      </p:sp>
      <p:sp>
        <p:nvSpPr>
          <p:cNvPr id="106" name="tb107"/>
          <p:cNvSpPr txBox="1"/>
          <p:nvPr/>
        </p:nvSpPr>
        <p:spPr>
          <a:xfrm>
            <a:off x="430000" y="4080000"/>
            <a:ext cx="520000" cy="5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8" name="tb109"/>
          <p:cNvSpPr txBox="1"/>
          <p:nvPr/>
        </p:nvSpPr>
        <p:spPr>
          <a:xfrm>
            <a:off x="1050000" y="4080000"/>
            <a:ext cx="7664000" cy="560000"/>
          </a:xfrm>
          <a:prstGeom prst="rect">
            <a:avLst/>
          </a:prstGeom>
          <a:noFill/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262626"/>
                </a:solidFill>
                <a:latin typeface="Arial"/>
                <a:cs typeface="Arial"/>
              </a:rPr>
              <a:t xml:space="preserve">True-ceiling on RMFRD:  </a:t>
            </a:r>
            <a:r>
              <a:rPr lang="en-US" sz="1300" b="0" i="0" dirty="0">
                <a:solidFill>
                  <a:srgbClr val="595959"/>
                </a:solidFill>
                <a:latin typeface="Arial"/>
                <a:cs typeface="Arial"/>
              </a:rPr>
              <a:t>Re-report Rank-1 after filtering flagged label noise.</a:t>
            </a:r>
          </a:p>
        </p:txBody>
      </p:sp>
      <p:sp>
        <p:nvSpPr>
          <p:cNvPr id="110" name="tb111"/>
          <p:cNvSpPr txBox="1"/>
          <p:nvPr/>
        </p:nvSpPr>
        <p:spPr>
          <a:xfrm>
            <a:off x="430000" y="4770000"/>
            <a:ext cx="520000" cy="560000"/>
          </a:xfrm>
          <a:prstGeom prst="roundRect">
            <a:avLst>
              <a:gd name="adj" fmla="val 6000"/>
            </a:avLst>
          </a:prstGeom>
          <a:solidFill>
            <a:srgbClr val="C00000"/>
          </a:solidFill>
        </p:spPr>
        <p:txBody>
          <a:bodyPr wrap="square" lIns="91440" tIns="54864" rIns="91440" bIns="45720" anchor="ctr">
            <a:norm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1800" b="1" i="0" dirty="0">
                <a:solidFill>
                  <a:srgbClr val="FFFFFF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12" name="tb113"/>
          <p:cNvSpPr txBox="1"/>
          <p:nvPr/>
        </p:nvSpPr>
        <p:spPr>
          <a:xfrm>
            <a:off x="1050000" y="4770000"/>
            <a:ext cx="7664000" cy="560000"/>
          </a:xfrm>
          <a:prstGeom prst="rect">
            <a:avLst/>
          </a:prstGeom>
          <a:noFill/>
        </p:spPr>
        <p:txBody>
          <a:bodyPr wrap="square" lIns="91440" tIns="54864" rIns="91440" bIns="45720" anchor="ctr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350" b="1" i="0" dirty="0">
                <a:solidFill>
                  <a:srgbClr val="262626"/>
                </a:solidFill>
                <a:latin typeface="Arial"/>
                <a:cs typeface="Arial"/>
              </a:rPr>
              <a:t xml:space="preserve">Finalize report &amp; slides:  </a:t>
            </a:r>
            <a:r>
              <a:rPr lang="en-US" sz="1300" b="0" i="0" dirty="0">
                <a:solidFill>
                  <a:srgbClr val="595959"/>
                </a:solidFill>
                <a:latin typeface="Arial"/>
                <a:cs typeface="Arial"/>
              </a:rPr>
              <a:t>Close the project in an estimated 1–2 weeks.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F65CE-1C3A-4F65-B87B-B0509FEE705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Contribution of Each Member</a:t>
            </a:r>
          </a:p>
        </p:txBody>
      </p:sp>
      <p:graphicFrame>
        <p:nvGraphicFramePr>
          <p:cNvPr id="114" name="table115"/>
          <p:cNvGraphicFramePr>
            <a:graphicFrameLocks noGrp="1"/>
          </p:cNvGraphicFramePr>
          <p:nvPr/>
        </p:nvGraphicFramePr>
        <p:xfrm>
          <a:off x="430000" y="880000"/>
          <a:ext cx="8284000" cy="4500000"/>
        </p:xfrm>
        <a:graphic>
          <a:graphicData uri="http://schemas.openxmlformats.org/drawingml/2006/table">
            <a:tbl>
              <a:tblPr firstRow="1" bandRow="1"/>
              <a:tblGrid>
                <a:gridCol w="2960000"/>
                <a:gridCol w="4364000"/>
                <a:gridCol w="960000"/>
              </a:tblGrid>
              <a:tr h="855000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Member (Student ID)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Responsibilities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Weeks</a:t>
                      </a:r>
                    </a:p>
                  </a:txBody>
                  <a:tcPr marL="73152" marR="73152" marT="27432" marB="27432" anchor="ctr">
                    <a:solidFill>
                      <a:srgbClr val="C00000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Tran Anh Tuan (20235628)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Dataset acquisition, MaskTheFace pipeline, dataloader &amp; preprocessing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1–2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Nguyen Thien Khai (20235595)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Model integration (FaceNet, ArcFace, LVFace), embedding &amp; similarity search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2–4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Nguyen Duc Anh (20235585)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Evaluation framework, CMC / ROC computation, result tables &amp; plots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3–5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900000"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Pham Nguyen Huy Tuan (20235627)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Real-time webcam demo, written report, presentation slides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50" b="0" i="0" dirty="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4–6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6" name="tb117"/>
          <p:cNvSpPr txBox="1"/>
          <p:nvPr/>
        </p:nvSpPr>
        <p:spPr>
          <a:xfrm>
            <a:off x="430000" y="5500000"/>
            <a:ext cx="8284000" cy="520000"/>
          </a:xfrm>
          <a:prstGeom prst="rect">
            <a:avLst/>
          </a:prstGeom>
          <a:noFill/>
        </p:spPr>
        <p:txBody>
          <a:bodyPr wrap="square" lIns="91440" tIns="54864" rIns="91440" bIns="45720" anchor="t">
            <a:norm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en-US" sz="1200" b="0" i="1" dirty="0">
                <a:solidFill>
                  <a:srgbClr val="595959"/>
                </a:solidFill>
                <a:latin typeface="Arial"/>
                <a:cs typeface="Arial"/>
              </a:rPr>
              <a:t>All members shared the design discussions, the pretrained-only methodology decision, and review of results.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</TotalTime>
  <Words>25</Words>
  <Application>Microsoft Office PowerPoint</Application>
  <PresentationFormat>Trình chiếu Trên màn hình (4:3)</PresentationFormat>
  <Paragraphs>15</Paragraphs>
  <Slides>13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HUST CCPR</cp:lastModifiedBy>
  <cp:revision>13</cp:revision>
  <dcterms:created xsi:type="dcterms:W3CDTF">2021-05-28T04:32:29Z</dcterms:created>
  <dcterms:modified xsi:type="dcterms:W3CDTF">2022-12-12T05:09:13Z</dcterms:modified>
</cp:coreProperties>
</file>